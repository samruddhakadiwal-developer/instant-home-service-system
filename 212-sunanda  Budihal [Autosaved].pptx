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4" d="100"/>
          <a:sy n="64" d="100"/>
        </p:scale>
        <p:origin x="-232" y="248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1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1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754A4F-E094-4419-A40C-8B80C23947D8}" type="datetimeFigureOut">
              <a:rPr lang="en-IN" smtClean="0"/>
              <a:t>06-01-2025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822325" y="6950075"/>
            <a:ext cx="6584950" cy="65833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02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02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677CB3-2071-4845-A514-03BEA7B643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3324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2152174"/>
            <a:ext cx="7468553" cy="211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kern="0" spc="-89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AI and Machine Learning in Heart Disease Diagnosis and Management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4623197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This presentation explores the real-time application of AI in heart disease detection and management.</a:t>
            </a:r>
            <a:endParaRPr lang="en-US" sz="1850" dirty="0"/>
          </a:p>
        </p:txBody>
      </p:sp>
      <p:sp>
        <p:nvSpPr>
          <p:cNvPr id="5" name="Shape 2"/>
          <p:cNvSpPr/>
          <p:nvPr/>
        </p:nvSpPr>
        <p:spPr>
          <a:xfrm>
            <a:off x="837724" y="5676305"/>
            <a:ext cx="382905" cy="382905"/>
          </a:xfrm>
          <a:prstGeom prst="roundRect">
            <a:avLst>
              <a:gd name="adj" fmla="val 23878209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485787"/>
            <a:ext cx="9938147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kern="0" spc="-89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Introduction to Heart Disease and AI/ML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78809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Heart Disease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4379357"/>
            <a:ext cx="6185535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 broad term for various heart conditions, with Coronary Artery Disease (CAD) and Acute Myocardial Infarction (AMI) being the most common.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7614761" y="378809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AI/ML in Healthcare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614761" y="4379357"/>
            <a:ext cx="6185535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AI and ML algorithms are increasingly used to assist healthcare providers in improving diagnostic accuracy, predicting disease outcomes, and personalizing treatments.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721087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1356122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kern="0" spc="-89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Case Overview and Patient Information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324124" y="3123128"/>
            <a:ext cx="3614618" cy="1755458"/>
          </a:xfrm>
          <a:prstGeom prst="roundRect">
            <a:avLst>
              <a:gd name="adj" fmla="val 5727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71059" y="337006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Patient Demographics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71059" y="3865602"/>
            <a:ext cx="312074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Age: 62 years, Gender: Female, Occupation: Retired teacher.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10178058" y="3123128"/>
            <a:ext cx="3614618" cy="1755458"/>
          </a:xfrm>
          <a:prstGeom prst="roundRect">
            <a:avLst>
              <a:gd name="adj" fmla="val 5727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24993" y="337006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Medical History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24993" y="3865602"/>
            <a:ext cx="312074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Hypertension, high cholesterol, family history of heart disease.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6324124" y="5117902"/>
            <a:ext cx="3614618" cy="1755458"/>
          </a:xfrm>
          <a:prstGeom prst="roundRect">
            <a:avLst>
              <a:gd name="adj" fmla="val 5727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71059" y="536483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Presenting Symptoms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71059" y="5860375"/>
            <a:ext cx="312074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Chest pain, shortness of breath, fatigue, dizziness.</a:t>
            </a:r>
            <a:endParaRPr lang="en-US" sz="1850" dirty="0"/>
          </a:p>
        </p:txBody>
      </p:sp>
      <p:sp>
        <p:nvSpPr>
          <p:cNvPr id="13" name="Shape 10"/>
          <p:cNvSpPr/>
          <p:nvPr/>
        </p:nvSpPr>
        <p:spPr>
          <a:xfrm>
            <a:off x="10178058" y="5117902"/>
            <a:ext cx="3614618" cy="1755458"/>
          </a:xfrm>
          <a:prstGeom prst="roundRect">
            <a:avLst>
              <a:gd name="adj" fmla="val 5727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424993" y="536483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Risk Factors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0424993" y="5860375"/>
            <a:ext cx="312074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Hypertension, high cholesterol, sedentary lifestyle.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485787"/>
            <a:ext cx="9987201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kern="0" spc="-89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Role of AI/ML in Heart Disease Diagnosis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788093"/>
            <a:ext cx="459259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Machine Learning for Early Detection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4379357"/>
            <a:ext cx="6185535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ML algorithms can analyze a patient’s medical history and current health data to predict the likelihood of a heart attack or other cardiac events.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7614761" y="378809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AI in Imaging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614761" y="4379357"/>
            <a:ext cx="6185535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Deep Learning Algorithms are used to analyze medical imaging (e.g., CT scans, MRIs, echocardiograms) to identify coronary blockages and heart abnormalities.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814745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kern="0" spc="-89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Diagnostic Tests Enhanced by AI/ML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324124" y="2850952"/>
            <a:ext cx="538520" cy="538520"/>
          </a:xfrm>
          <a:prstGeom prst="roundRect">
            <a:avLst>
              <a:gd name="adj" fmla="val 1867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08909" y="2951202"/>
            <a:ext cx="168950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kern="0" spc="-53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7101959" y="2850952"/>
            <a:ext cx="2836783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Electrocardiogram (ECG)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101959" y="3698438"/>
            <a:ext cx="2836783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 deep learning model analyzes ECG readings in real-time, detecting abnormalities like arrhythmias, ischemia, and potential heart attacks.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10178058" y="2850952"/>
            <a:ext cx="538520" cy="538520"/>
          </a:xfrm>
          <a:prstGeom prst="roundRect">
            <a:avLst>
              <a:gd name="adj" fmla="val 1867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362843" y="2951202"/>
            <a:ext cx="168950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kern="0" spc="-53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10955893" y="285095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Blood Test Analysis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955893" y="3346490"/>
            <a:ext cx="2836783" cy="229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ML models can analyze trends in biomarker levels (e.g., troponin, CK-MB) to predict heart attack risk, even before clinical symptoms manifest.</a:t>
            </a:r>
            <a:endParaRPr lang="en-US" sz="1850" dirty="0"/>
          </a:p>
        </p:txBody>
      </p:sp>
      <p:sp>
        <p:nvSpPr>
          <p:cNvPr id="12" name="Shape 9"/>
          <p:cNvSpPr/>
          <p:nvPr/>
        </p:nvSpPr>
        <p:spPr>
          <a:xfrm>
            <a:off x="6324124" y="6153150"/>
            <a:ext cx="538520" cy="538520"/>
          </a:xfrm>
          <a:prstGeom prst="roundRect">
            <a:avLst>
              <a:gd name="adj" fmla="val 1867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08909" y="6253401"/>
            <a:ext cx="168950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kern="0" spc="-53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7101959" y="615315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Coronary Angiography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101959" y="6648688"/>
            <a:ext cx="669071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AI algorithms analyze angiography images to detect coronary artery blockages with more speed and precision than human radiologists.</a:t>
            </a:r>
            <a:endParaRPr lang="en-US" sz="1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485787"/>
            <a:ext cx="6755725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kern="0" spc="-89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AI-Powered Treatment Plan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78809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Personalized Medicine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4379357"/>
            <a:ext cx="6185535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AI/ML models can help healthcare providers recommend personalized treatment plans based on the patient’s individual health profile, including drug responses.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7614761" y="3788093"/>
            <a:ext cx="2995851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Predicting Drug Efficacy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614761" y="4379357"/>
            <a:ext cx="6185535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ML models can predict how the patient will respond to specific heart disease medications (e.g., statins, beta-blockers), minimizing trial-and-error in prescribing.</a:t>
            </a:r>
            <a:endParaRPr lang="en-US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607106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kern="0" spc="-89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Real-Time Monitoring Using AI</a:t>
            </a:r>
            <a:endParaRPr lang="en-US" sz="44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724" y="3374112"/>
            <a:ext cx="598408" cy="59840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37724" y="421183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Wearable Devices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837724" y="4707374"/>
            <a:ext cx="3554730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AI-powered wearable devices, such as smartwatches or ECG monitors, provide continuous monitoring of the patient’s heart rate, blood pressure, and other vital signs.</a:t>
            </a:r>
            <a:endParaRPr lang="en-US" sz="18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1427" y="3374112"/>
            <a:ext cx="598408" cy="59840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751427" y="421183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Telemedicine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4751427" y="4707374"/>
            <a:ext cx="3554849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AI is used in telemedicine platforms to analyze data remotely, enabling doctors to provide continuous care to heart disease patients, particularly in rural or underserved areas.</a:t>
            </a:r>
            <a:endParaRPr lang="en-US" sz="1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984885"/>
            <a:ext cx="10588109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kern="0" spc="-89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Outcome and Prognosis with AI Integration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2167652"/>
            <a:ext cx="2159079" cy="1357193"/>
          </a:xfrm>
          <a:prstGeom prst="roundRect">
            <a:avLst>
              <a:gd name="adj" fmla="val 7408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84659" y="2606873"/>
            <a:ext cx="149543" cy="478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750"/>
              </a:lnSpc>
              <a:buNone/>
            </a:pPr>
            <a:r>
              <a:rPr lang="en-US" sz="2350" kern="0" spc="-47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1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3236119" y="240696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Short-Term Outcome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36119" y="2902506"/>
            <a:ext cx="827210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After undergoing AI-assisted diagnosis and treatment, the patient’s condition stabilized.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3116461" y="3509605"/>
            <a:ext cx="10556558" cy="15240"/>
          </a:xfrm>
          <a:prstGeom prst="roundRect">
            <a:avLst>
              <a:gd name="adj" fmla="val 659712"/>
            </a:avLst>
          </a:prstGeom>
          <a:solidFill>
            <a:srgbClr val="D6BADD"/>
          </a:solidFill>
          <a:ln/>
        </p:spPr>
      </p:sp>
      <p:sp>
        <p:nvSpPr>
          <p:cNvPr id="8" name="Shape 6"/>
          <p:cNvSpPr/>
          <p:nvPr/>
        </p:nvSpPr>
        <p:spPr>
          <a:xfrm>
            <a:off x="837724" y="3644503"/>
            <a:ext cx="4318278" cy="1740218"/>
          </a:xfrm>
          <a:prstGeom prst="roundRect">
            <a:avLst>
              <a:gd name="adj" fmla="val 5777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84659" y="4275296"/>
            <a:ext cx="149543" cy="478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750"/>
              </a:lnSpc>
              <a:buNone/>
            </a:pPr>
            <a:r>
              <a:rPr lang="en-US" sz="2350" kern="0" spc="-47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2</a:t>
            </a:r>
            <a:endParaRPr lang="en-US" sz="2350" dirty="0"/>
          </a:p>
        </p:txBody>
      </p:sp>
      <p:sp>
        <p:nvSpPr>
          <p:cNvPr id="10" name="Text 8"/>
          <p:cNvSpPr/>
          <p:nvPr/>
        </p:nvSpPr>
        <p:spPr>
          <a:xfrm>
            <a:off x="5395317" y="3883819"/>
            <a:ext cx="409444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Prognosis with AI-Enhanced Care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395317" y="4379357"/>
            <a:ext cx="815804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patient’s recovery is expected to be better than traditional methods due to the continuous monitoring and personalized care provided by AI-driven technologies.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5275659" y="5369481"/>
            <a:ext cx="8397359" cy="15240"/>
          </a:xfrm>
          <a:prstGeom prst="roundRect">
            <a:avLst>
              <a:gd name="adj" fmla="val 659712"/>
            </a:avLst>
          </a:prstGeom>
          <a:solidFill>
            <a:srgbClr val="D6BADD"/>
          </a:solidFill>
          <a:ln/>
        </p:spPr>
      </p:sp>
      <p:sp>
        <p:nvSpPr>
          <p:cNvPr id="13" name="Shape 11"/>
          <p:cNvSpPr/>
          <p:nvPr/>
        </p:nvSpPr>
        <p:spPr>
          <a:xfrm>
            <a:off x="837724" y="5504378"/>
            <a:ext cx="6477476" cy="1740218"/>
          </a:xfrm>
          <a:prstGeom prst="roundRect">
            <a:avLst>
              <a:gd name="adj" fmla="val 5777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4659" y="6135172"/>
            <a:ext cx="149543" cy="478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750"/>
              </a:lnSpc>
              <a:buNone/>
            </a:pPr>
            <a:r>
              <a:rPr lang="en-US" sz="2350" kern="0" spc="-47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3</a:t>
            </a:r>
            <a:endParaRPr lang="en-US" sz="2350" dirty="0"/>
          </a:p>
        </p:txBody>
      </p:sp>
      <p:sp>
        <p:nvSpPr>
          <p:cNvPr id="15" name="Text 13"/>
          <p:cNvSpPr/>
          <p:nvPr/>
        </p:nvSpPr>
        <p:spPr>
          <a:xfrm>
            <a:off x="7554516" y="5743694"/>
            <a:ext cx="286643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Improved Survival Rate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554516" y="6239232"/>
            <a:ext cx="599884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kern="0" spc="-38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Studies show that hospitals using AI for early heart disease detection report higher survival rates and faster recovery times.</a:t>
            </a:r>
            <a:endParaRPr lang="en-US" sz="1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772603"/>
            <a:ext cx="12048887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kern="0" spc="-89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Challenges and Limitations of AI in Heart Disease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4814" y="2955369"/>
            <a:ext cx="1603058" cy="8305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01572" y="3219926"/>
            <a:ext cx="149543" cy="478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750"/>
              </a:lnSpc>
              <a:buNone/>
            </a:pPr>
            <a:r>
              <a:rPr lang="en-US" sz="2350" kern="0" spc="-47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1</a:t>
            </a:r>
            <a:endParaRPr lang="en-US" sz="2350" dirty="0"/>
          </a:p>
        </p:txBody>
      </p:sp>
      <p:sp>
        <p:nvSpPr>
          <p:cNvPr id="5" name="Text 2"/>
          <p:cNvSpPr/>
          <p:nvPr/>
        </p:nvSpPr>
        <p:spPr>
          <a:xfrm>
            <a:off x="5117187" y="3194685"/>
            <a:ext cx="3116937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Data Privacy and Security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4937641" y="3800594"/>
            <a:ext cx="8795266" cy="15240"/>
          </a:xfrm>
          <a:prstGeom prst="roundRect">
            <a:avLst>
              <a:gd name="adj" fmla="val 659712"/>
            </a:avLst>
          </a:prstGeom>
          <a:solidFill>
            <a:srgbClr val="D6BADD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3285" y="3845719"/>
            <a:ext cx="3206234" cy="8305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001572" y="4021693"/>
            <a:ext cx="149543" cy="478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750"/>
              </a:lnSpc>
              <a:buNone/>
            </a:pPr>
            <a:r>
              <a:rPr lang="en-US" sz="2350" kern="0" spc="-47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2</a:t>
            </a:r>
            <a:endParaRPr lang="en-US" sz="2350" dirty="0"/>
          </a:p>
        </p:txBody>
      </p:sp>
      <p:sp>
        <p:nvSpPr>
          <p:cNvPr id="9" name="Text 5"/>
          <p:cNvSpPr/>
          <p:nvPr/>
        </p:nvSpPr>
        <p:spPr>
          <a:xfrm>
            <a:off x="5918835" y="4085034"/>
            <a:ext cx="1829753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Algorithm Bias</a:t>
            </a:r>
            <a:endParaRPr lang="en-US" sz="2200" dirty="0"/>
          </a:p>
        </p:txBody>
      </p:sp>
      <p:sp>
        <p:nvSpPr>
          <p:cNvPr id="10" name="Shape 6"/>
          <p:cNvSpPr/>
          <p:nvPr/>
        </p:nvSpPr>
        <p:spPr>
          <a:xfrm>
            <a:off x="5739289" y="4690943"/>
            <a:ext cx="7993618" cy="15240"/>
          </a:xfrm>
          <a:prstGeom prst="roundRect">
            <a:avLst>
              <a:gd name="adj" fmla="val 659712"/>
            </a:avLst>
          </a:prstGeom>
          <a:solidFill>
            <a:srgbClr val="D6BADD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1638" y="4736068"/>
            <a:ext cx="4809411" cy="8305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001453" y="4912043"/>
            <a:ext cx="149543" cy="478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750"/>
              </a:lnSpc>
              <a:buNone/>
            </a:pPr>
            <a:r>
              <a:rPr lang="en-US" sz="2350" kern="0" spc="-47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3</a:t>
            </a:r>
            <a:endParaRPr lang="en-US" sz="2350" dirty="0"/>
          </a:p>
        </p:txBody>
      </p:sp>
      <p:sp>
        <p:nvSpPr>
          <p:cNvPr id="13" name="Text 8"/>
          <p:cNvSpPr/>
          <p:nvPr/>
        </p:nvSpPr>
        <p:spPr>
          <a:xfrm>
            <a:off x="6720364" y="4975384"/>
            <a:ext cx="4454604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Integration with Traditional Systems</a:t>
            </a:r>
            <a:endParaRPr lang="en-US" sz="2200" dirty="0"/>
          </a:p>
        </p:txBody>
      </p:sp>
      <p:sp>
        <p:nvSpPr>
          <p:cNvPr id="14" name="Shape 9"/>
          <p:cNvSpPr/>
          <p:nvPr/>
        </p:nvSpPr>
        <p:spPr>
          <a:xfrm>
            <a:off x="6540818" y="5581293"/>
            <a:ext cx="7192089" cy="15240"/>
          </a:xfrm>
          <a:prstGeom prst="roundRect">
            <a:avLst>
              <a:gd name="adj" fmla="val 659712"/>
            </a:avLst>
          </a:prstGeom>
          <a:solidFill>
            <a:srgbClr val="D6BADD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109" y="5626418"/>
            <a:ext cx="6412587" cy="8305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001572" y="5802392"/>
            <a:ext cx="149543" cy="478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750"/>
              </a:lnSpc>
              <a:buNone/>
            </a:pPr>
            <a:r>
              <a:rPr lang="en-US" sz="2350" kern="0" spc="-47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4</a:t>
            </a:r>
            <a:endParaRPr lang="en-US" sz="2350" dirty="0"/>
          </a:p>
        </p:txBody>
      </p:sp>
      <p:sp>
        <p:nvSpPr>
          <p:cNvPr id="17" name="Text 11"/>
          <p:cNvSpPr/>
          <p:nvPr/>
        </p:nvSpPr>
        <p:spPr>
          <a:xfrm>
            <a:off x="7522012" y="5865733"/>
            <a:ext cx="33876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kern="0" spc="-44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Doctor-Patient Relationship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7123" y="807720"/>
            <a:ext cx="7549753" cy="1339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250"/>
              </a:lnSpc>
              <a:buNone/>
            </a:pPr>
            <a:r>
              <a:rPr lang="en-US" sz="4200" kern="0" spc="-84" dirty="0">
                <a:solidFill>
                  <a:srgbClr val="000000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Conclusion and Future Directions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797123" y="2745224"/>
            <a:ext cx="398502" cy="398502"/>
          </a:xfrm>
          <a:prstGeom prst="roundRect">
            <a:avLst>
              <a:gd name="adj" fmla="val 24007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423392" y="2745224"/>
            <a:ext cx="2679740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100" kern="0" spc="-42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Summary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423392" y="3216712"/>
            <a:ext cx="3034784" cy="1092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AI and ML are revolutionizing heart disease diagnosis, treatment, and management.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943" y="2745224"/>
            <a:ext cx="398502" cy="398502"/>
          </a:xfrm>
          <a:prstGeom prst="roundRect">
            <a:avLst>
              <a:gd name="adj" fmla="val 24007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12212" y="2745224"/>
            <a:ext cx="3034784" cy="669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100" kern="0" spc="-42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The Future of AI in Cardiology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5312212" y="3551634"/>
            <a:ext cx="3034784" cy="1821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Continued advancement in AI algorithms and ML models will further improve predictive capabilities, enabling even earlier detection and intervention.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7123" y="5857280"/>
            <a:ext cx="398502" cy="398502"/>
          </a:xfrm>
          <a:prstGeom prst="roundRect">
            <a:avLst>
              <a:gd name="adj" fmla="val 24007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423392" y="5857280"/>
            <a:ext cx="2679740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100" kern="0" spc="-42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Call to Action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423392" y="6328767"/>
            <a:ext cx="6923484" cy="1092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kern="0" spc="-36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Emphasize the need for integration of AI-driven tools into clinical practice to revolutionize heart disease care, ensuring timely diagnosis, better treatment outcomes, and ultimately saving lives.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603</Words>
  <Application>Microsoft Office PowerPoint</Application>
  <PresentationFormat>Custom</PresentationFormat>
  <Paragraphs>77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Kiran</cp:lastModifiedBy>
  <cp:revision>5</cp:revision>
  <dcterms:created xsi:type="dcterms:W3CDTF">2025-01-06T07:00:57Z</dcterms:created>
  <dcterms:modified xsi:type="dcterms:W3CDTF">2025-01-06T15:09:20Z</dcterms:modified>
</cp:coreProperties>
</file>